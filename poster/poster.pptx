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0279975" cy="42808525"/>
  <p:notesSz cx="6669088" cy="9926638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3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>
          <p15:clr>
            <a:srgbClr val="A4A3A4"/>
          </p15:clr>
        </p15:guide>
        <p15:guide id="2" orient="horz" pos="25705">
          <p15:clr>
            <a:srgbClr val="A4A3A4"/>
          </p15:clr>
        </p15:guide>
        <p15:guide id="3" orient="horz" pos="3473">
          <p15:clr>
            <a:srgbClr val="A4A3A4"/>
          </p15:clr>
        </p15:guide>
        <p15:guide id="4" orient="horz" pos="26279">
          <p15:clr>
            <a:srgbClr val="A4A3A4"/>
          </p15:clr>
        </p15:guide>
        <p15:guide id="5" orient="horz" pos="2494">
          <p15:clr>
            <a:srgbClr val="A4A3A4"/>
          </p15:clr>
        </p15:guide>
        <p15:guide id="6" pos="9720">
          <p15:clr>
            <a:srgbClr val="A4A3A4"/>
          </p15:clr>
        </p15:guide>
        <p15:guide id="7" pos="9158">
          <p15:clr>
            <a:srgbClr val="A4A3A4"/>
          </p15:clr>
        </p15:guide>
        <p15:guide id="8" pos="18394">
          <p15:clr>
            <a:srgbClr val="A4A3A4"/>
          </p15:clr>
        </p15:guide>
        <p15:guide id="9" pos="4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2D89"/>
    <a:srgbClr val="D4D5E5"/>
    <a:srgbClr val="D4DFE7"/>
    <a:srgbClr val="006684"/>
    <a:srgbClr val="E3D9CE"/>
    <a:srgbClr val="F26531"/>
    <a:srgbClr val="E3D9DB"/>
    <a:srgbClr val="D11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4" autoAdjust="0"/>
    <p:restoredTop sz="94690"/>
  </p:normalViewPr>
  <p:slideViewPr>
    <p:cSldViewPr snapToGrid="0">
      <p:cViewPr varScale="1">
        <p:scale>
          <a:sx n="18" d="100"/>
          <a:sy n="18" d="100"/>
        </p:scale>
        <p:origin x="4008" y="168"/>
      </p:cViewPr>
      <p:guideLst>
        <p:guide orient="horz" pos="2165"/>
        <p:guide orient="horz" pos="25705"/>
        <p:guide orient="horz" pos="3473"/>
        <p:guide orient="horz" pos="26279"/>
        <p:guide orient="horz" pos="2494"/>
        <p:guide pos="9720"/>
        <p:guide pos="9158"/>
        <p:guide pos="18394"/>
        <p:guide pos="4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-2704" y="-104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665" cy="496809"/>
          </a:xfrm>
          <a:prstGeom prst="rect">
            <a:avLst/>
          </a:prstGeom>
        </p:spPr>
        <p:txBody>
          <a:bodyPr vert="horz" lIns="90999" tIns="45499" rIns="90999" bIns="45499" rtlCol="0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866" y="0"/>
            <a:ext cx="2890665" cy="496809"/>
          </a:xfrm>
          <a:prstGeom prst="rect">
            <a:avLst/>
          </a:prstGeom>
        </p:spPr>
        <p:txBody>
          <a:bodyPr vert="horz" wrap="square" lIns="90999" tIns="45499" rIns="90999" bIns="4549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2FF191F4-BEEE-4B59-924D-146E5100186C}" type="datetimeFigureOut">
              <a:rPr lang="en-US" altLang="zh-CN"/>
              <a:pPr>
                <a:defRPr/>
              </a:pPr>
              <a:t>6/7/2026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19300" y="744538"/>
            <a:ext cx="263048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99" tIns="45499" rIns="90999" bIns="4549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598" y="4715710"/>
            <a:ext cx="5335893" cy="4466511"/>
          </a:xfrm>
          <a:prstGeom prst="rect">
            <a:avLst/>
          </a:prstGeom>
        </p:spPr>
        <p:txBody>
          <a:bodyPr vert="horz" lIns="90999" tIns="45499" rIns="90999" bIns="45499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242"/>
            <a:ext cx="2890665" cy="496809"/>
          </a:xfrm>
          <a:prstGeom prst="rect">
            <a:avLst/>
          </a:prstGeom>
        </p:spPr>
        <p:txBody>
          <a:bodyPr vert="horz" lIns="90999" tIns="45499" rIns="90999" bIns="45499" rtlCol="0" anchor="b"/>
          <a:lstStyle>
            <a:lvl1pPr algn="l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866" y="9428242"/>
            <a:ext cx="2890665" cy="496809"/>
          </a:xfrm>
          <a:prstGeom prst="rect">
            <a:avLst/>
          </a:prstGeom>
        </p:spPr>
        <p:txBody>
          <a:bodyPr vert="horz" wrap="square" lIns="90999" tIns="45499" rIns="90999" bIns="4549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2EA2E364-9A8E-4FD0-B36A-0540C01E6B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74281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>
              <a:ea typeface="ＭＳ Ｐゴシック" panose="020B0600070205080204" pitchFamily="34" charset="-128"/>
            </a:endParaRPr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8731" indent="-283521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37235" indent="-226817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592444" indent="-226817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46078" indent="-226817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499712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53346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06980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60613" indent="-226817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E156ED5-749F-4B66-B0BC-EE2BF5430547}" type="slidenum">
              <a:rPr lang="en-US" altLang="zh-CN" sz="1200"/>
              <a:pPr/>
              <a:t>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774185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0318" y="9405981"/>
            <a:ext cx="36387892" cy="64910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0632" y="17158652"/>
            <a:ext cx="29967260" cy="7738216"/>
          </a:xfrm>
        </p:spPr>
        <p:txBody>
          <a:bodyPr/>
          <a:lstStyle>
            <a:lvl1pPr marL="0" indent="0" algn="ctr">
              <a:buNone/>
              <a:defRPr/>
            </a:lvl1pPr>
            <a:lvl2pPr marL="457230" indent="0" algn="ctr">
              <a:buNone/>
              <a:defRPr/>
            </a:lvl2pPr>
            <a:lvl3pPr marL="914462" indent="0" algn="ctr">
              <a:buNone/>
              <a:defRPr/>
            </a:lvl3pPr>
            <a:lvl4pPr marL="1371693" indent="0" algn="ctr">
              <a:buNone/>
              <a:defRPr/>
            </a:lvl4pPr>
            <a:lvl5pPr marL="1828925" indent="0" algn="ctr">
              <a:buNone/>
              <a:defRPr/>
            </a:lvl5pPr>
            <a:lvl6pPr marL="2286155" indent="0" algn="ctr">
              <a:buNone/>
              <a:defRPr/>
            </a:lvl6pPr>
            <a:lvl7pPr marL="2743386" indent="0" algn="ctr">
              <a:buNone/>
              <a:defRPr/>
            </a:lvl7pPr>
            <a:lvl8pPr marL="3200618" indent="0" algn="ctr">
              <a:buNone/>
              <a:defRPr/>
            </a:lvl8pPr>
            <a:lvl9pPr marL="365784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04A3FD-1BC9-43FB-9524-2A6E391B04DC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22876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FA9472-1EDC-4E78-B626-E8963B4DFD4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70006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578" y="19457251"/>
            <a:ext cx="36387892" cy="6013939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1578" y="12833506"/>
            <a:ext cx="36387892" cy="662374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30" indent="0">
              <a:buNone/>
              <a:defRPr sz="1800"/>
            </a:lvl2pPr>
            <a:lvl3pPr marL="914462" indent="0">
              <a:buNone/>
              <a:defRPr sz="1600"/>
            </a:lvl3pPr>
            <a:lvl4pPr marL="1371693" indent="0">
              <a:buNone/>
              <a:defRPr sz="1400"/>
            </a:lvl4pPr>
            <a:lvl5pPr marL="1828925" indent="0">
              <a:buNone/>
              <a:defRPr sz="1400"/>
            </a:lvl5pPr>
            <a:lvl6pPr marL="2286155" indent="0">
              <a:buNone/>
              <a:defRPr sz="1400"/>
            </a:lvl6pPr>
            <a:lvl7pPr marL="2743386" indent="0">
              <a:buNone/>
              <a:defRPr sz="1400"/>
            </a:lvl7pPr>
            <a:lvl8pPr marL="3200618" indent="0">
              <a:buNone/>
              <a:defRPr sz="1400"/>
            </a:lvl8pPr>
            <a:lvl9pPr marL="3657848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2ABAC-B4DD-45EC-82EC-C36DD6C4417A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4135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0318" y="8747548"/>
            <a:ext cx="18116394" cy="18167985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81816" y="8747548"/>
            <a:ext cx="18116395" cy="18167985"/>
          </a:xfrm>
        </p:spPr>
        <p:txBody>
          <a:bodyPr/>
          <a:lstStyle>
            <a:lvl1pPr>
              <a:defRPr sz="280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7D6C8-A081-4C67-909C-F5764EAE005C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04346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751" y="1213040"/>
            <a:ext cx="38527026" cy="50466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0749" y="6777512"/>
            <a:ext cx="18914531" cy="28256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0" indent="0">
              <a:buNone/>
              <a:defRPr sz="2000" b="1"/>
            </a:lvl2pPr>
            <a:lvl3pPr marL="914462" indent="0">
              <a:buNone/>
              <a:defRPr sz="1800" b="1"/>
            </a:lvl3pPr>
            <a:lvl4pPr marL="1371693" indent="0">
              <a:buNone/>
              <a:defRPr sz="1600" b="1"/>
            </a:lvl4pPr>
            <a:lvl5pPr marL="1828925" indent="0">
              <a:buNone/>
              <a:defRPr sz="1600" b="1"/>
            </a:lvl5pPr>
            <a:lvl6pPr marL="2286155" indent="0">
              <a:buNone/>
              <a:defRPr sz="1600" b="1"/>
            </a:lvl6pPr>
            <a:lvl7pPr marL="2743386" indent="0">
              <a:buNone/>
              <a:defRPr sz="1600" b="1"/>
            </a:lvl7pPr>
            <a:lvl8pPr marL="3200618" indent="0">
              <a:buNone/>
              <a:defRPr sz="1600" b="1"/>
            </a:lvl8pPr>
            <a:lvl9pPr marL="365784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40749" y="9603116"/>
            <a:ext cx="18914531" cy="17445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746783" y="6777512"/>
            <a:ext cx="18920994" cy="282560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0" indent="0">
              <a:buNone/>
              <a:defRPr sz="2000" b="1"/>
            </a:lvl2pPr>
            <a:lvl3pPr marL="914462" indent="0">
              <a:buNone/>
              <a:defRPr sz="1800" b="1"/>
            </a:lvl3pPr>
            <a:lvl4pPr marL="1371693" indent="0">
              <a:buNone/>
              <a:defRPr sz="1600" b="1"/>
            </a:lvl4pPr>
            <a:lvl5pPr marL="1828925" indent="0">
              <a:buNone/>
              <a:defRPr sz="1600" b="1"/>
            </a:lvl5pPr>
            <a:lvl6pPr marL="2286155" indent="0">
              <a:buNone/>
              <a:defRPr sz="1600" b="1"/>
            </a:lvl6pPr>
            <a:lvl7pPr marL="2743386" indent="0">
              <a:buNone/>
              <a:defRPr sz="1600" b="1"/>
            </a:lvl7pPr>
            <a:lvl8pPr marL="3200618" indent="0">
              <a:buNone/>
              <a:defRPr sz="1600" b="1"/>
            </a:lvl8pPr>
            <a:lvl9pPr marL="365784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746783" y="9603116"/>
            <a:ext cx="18920994" cy="174451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FDE04-0147-494D-B9B4-666AC12382F0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29614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AEFDD-A041-40DE-8F3E-026A5D412433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68946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0C1C43-DB4D-4DCF-BEF4-6AC3F85D9F09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059673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0751" y="1205154"/>
            <a:ext cx="14083707" cy="513077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36621" y="1205155"/>
            <a:ext cx="23931156" cy="25843118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40751" y="6335927"/>
            <a:ext cx="14083707" cy="20712344"/>
          </a:xfrm>
        </p:spPr>
        <p:txBody>
          <a:bodyPr/>
          <a:lstStyle>
            <a:lvl1pPr marL="0" indent="0">
              <a:buNone/>
              <a:defRPr sz="1400"/>
            </a:lvl1pPr>
            <a:lvl2pPr marL="457230" indent="0">
              <a:buNone/>
              <a:defRPr sz="1199"/>
            </a:lvl2pPr>
            <a:lvl3pPr marL="914462" indent="0">
              <a:buNone/>
              <a:defRPr sz="1001"/>
            </a:lvl3pPr>
            <a:lvl4pPr marL="1371693" indent="0">
              <a:buNone/>
              <a:defRPr sz="900"/>
            </a:lvl4pPr>
            <a:lvl5pPr marL="1828925" indent="0">
              <a:buNone/>
              <a:defRPr sz="900"/>
            </a:lvl5pPr>
            <a:lvl6pPr marL="2286155" indent="0">
              <a:buNone/>
              <a:defRPr sz="900"/>
            </a:lvl6pPr>
            <a:lvl7pPr marL="2743386" indent="0">
              <a:buNone/>
              <a:defRPr sz="900"/>
            </a:lvl7pPr>
            <a:lvl8pPr marL="3200618" indent="0">
              <a:buNone/>
              <a:defRPr sz="900"/>
            </a:lvl8pPr>
            <a:lvl9pPr marL="365784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98C72-8830-4B4E-8C2A-4C7388F748C9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4110256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125" y="21195984"/>
            <a:ext cx="25685760" cy="250230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90125" y="2706011"/>
            <a:ext cx="25685760" cy="18167985"/>
          </a:xfrm>
        </p:spPr>
        <p:txBody>
          <a:bodyPr/>
          <a:lstStyle>
            <a:lvl1pPr marL="0" indent="0">
              <a:buNone/>
              <a:defRPr sz="3200"/>
            </a:lvl1pPr>
            <a:lvl2pPr marL="457230" indent="0">
              <a:buNone/>
              <a:defRPr sz="2801"/>
            </a:lvl2pPr>
            <a:lvl3pPr marL="914462" indent="0">
              <a:buNone/>
              <a:defRPr sz="2400"/>
            </a:lvl3pPr>
            <a:lvl4pPr marL="1371693" indent="0">
              <a:buNone/>
              <a:defRPr sz="2000"/>
            </a:lvl4pPr>
            <a:lvl5pPr marL="1828925" indent="0">
              <a:buNone/>
              <a:defRPr sz="2000"/>
            </a:lvl5pPr>
            <a:lvl6pPr marL="2286155" indent="0">
              <a:buNone/>
              <a:defRPr sz="2000"/>
            </a:lvl6pPr>
            <a:lvl7pPr marL="2743386" indent="0">
              <a:buNone/>
              <a:defRPr sz="2000"/>
            </a:lvl7pPr>
            <a:lvl8pPr marL="3200618" indent="0">
              <a:buNone/>
              <a:defRPr sz="2000"/>
            </a:lvl8pPr>
            <a:lvl9pPr marL="3657848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0125" y="23698287"/>
            <a:ext cx="25685760" cy="3553692"/>
          </a:xfrm>
        </p:spPr>
        <p:txBody>
          <a:bodyPr/>
          <a:lstStyle>
            <a:lvl1pPr marL="0" indent="0">
              <a:buNone/>
              <a:defRPr sz="1400"/>
            </a:lvl1pPr>
            <a:lvl2pPr marL="457230" indent="0">
              <a:buNone/>
              <a:defRPr sz="1199"/>
            </a:lvl2pPr>
            <a:lvl3pPr marL="914462" indent="0">
              <a:buNone/>
              <a:defRPr sz="1001"/>
            </a:lvl3pPr>
            <a:lvl4pPr marL="1371693" indent="0">
              <a:buNone/>
              <a:defRPr sz="900"/>
            </a:lvl4pPr>
            <a:lvl5pPr marL="1828925" indent="0">
              <a:buNone/>
              <a:defRPr sz="900"/>
            </a:lvl5pPr>
            <a:lvl6pPr marL="2286155" indent="0">
              <a:buNone/>
              <a:defRPr sz="900"/>
            </a:lvl6pPr>
            <a:lvl7pPr marL="2743386" indent="0">
              <a:buNone/>
              <a:defRPr sz="900"/>
            </a:lvl7pPr>
            <a:lvl8pPr marL="3200618" indent="0">
              <a:buNone/>
              <a:defRPr sz="900"/>
            </a:lvl8pPr>
            <a:lvl9pPr marL="365784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EDF52-2A7D-40F9-8B51-AF015698430D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18870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969A1-6B96-45F9-956E-1D0AC2B68042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3769993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502046" y="2691553"/>
            <a:ext cx="9096165" cy="242239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0318" y="2691553"/>
            <a:ext cx="27136624" cy="242239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92FCC-E168-49FB-BAC6-A03D1C9AB273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2982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70125" y="3803650"/>
            <a:ext cx="25739725" cy="713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49187" tIns="224596" rIns="449187" bIns="22459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70125" y="12366625"/>
            <a:ext cx="25739725" cy="256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zh-CN"/>
              <a:t>Click to edit Master text styles</a:t>
            </a:r>
          </a:p>
          <a:p>
            <a:pPr lvl="1"/>
            <a:r>
              <a:rPr lang="en-GB" altLang="zh-CN"/>
              <a:t>Second level</a:t>
            </a:r>
          </a:p>
          <a:p>
            <a:pPr lvl="2"/>
            <a:r>
              <a:rPr lang="en-GB" altLang="zh-CN"/>
              <a:t>Third level</a:t>
            </a:r>
          </a:p>
          <a:p>
            <a:pPr lvl="3"/>
            <a:r>
              <a:rPr lang="en-GB" altLang="zh-CN"/>
              <a:t>Fourth level</a:t>
            </a:r>
          </a:p>
          <a:p>
            <a:pPr lvl="4"/>
            <a:r>
              <a:rPr lang="en-GB" altLang="zh-CN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70125" y="39004875"/>
            <a:ext cx="6308725" cy="285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7001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45738" y="39004875"/>
            <a:ext cx="9588500" cy="285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7001"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1701125" y="39004875"/>
            <a:ext cx="6308725" cy="285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49187" tIns="224596" rIns="449187" bIns="2245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7001"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77F553CB-4169-495F-BA4E-447912B75DDA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2pPr>
      <a:lvl3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3pPr>
      <a:lvl4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4pPr>
      <a:lvl5pPr algn="ctr" defTabSz="4491038" rtl="0" eaLnBrk="0" fontAlgn="base" hangingPunct="0">
        <a:spcBef>
          <a:spcPct val="0"/>
        </a:spcBef>
        <a:spcAft>
          <a:spcPct val="0"/>
        </a:spcAft>
        <a:defRPr sz="21600">
          <a:solidFill>
            <a:schemeClr val="tx2"/>
          </a:solidFill>
          <a:latin typeface="Times New Roman" pitchFamily="18" charset="0"/>
          <a:ea typeface="ＭＳ Ｐゴシック" charset="0"/>
          <a:cs typeface="ＭＳ Ｐゴシック" charset="0"/>
        </a:defRPr>
      </a:lvl5pPr>
      <a:lvl6pPr marL="457230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6pPr>
      <a:lvl7pPr marL="914462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7pPr>
      <a:lvl8pPr marL="1371693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8pPr>
      <a:lvl9pPr marL="1828925" algn="ctr" defTabSz="4491343" rtl="0" fontAlgn="base">
        <a:spcBef>
          <a:spcPct val="0"/>
        </a:spcBef>
        <a:spcAft>
          <a:spcPct val="0"/>
        </a:spcAft>
        <a:defRPr sz="21601">
          <a:solidFill>
            <a:schemeClr val="tx2"/>
          </a:solidFill>
          <a:latin typeface="Times New Roman" pitchFamily="18" charset="0"/>
        </a:defRPr>
      </a:lvl9pPr>
    </p:titleStyle>
    <p:bodyStyle>
      <a:lvl1pPr marL="1682750" indent="-1682750" algn="l" defTabSz="4491038" rtl="0" eaLnBrk="0" fontAlgn="base" hangingPunct="0">
        <a:spcBef>
          <a:spcPct val="20000"/>
        </a:spcBef>
        <a:spcAft>
          <a:spcPct val="0"/>
        </a:spcAft>
        <a:buChar char="•"/>
        <a:defRPr sz="155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649663" indent="-1400175" algn="l" defTabSz="4491038" rtl="0" eaLnBrk="0" fontAlgn="base" hangingPunct="0">
        <a:spcBef>
          <a:spcPct val="20000"/>
        </a:spcBef>
        <a:spcAft>
          <a:spcPct val="0"/>
        </a:spcAft>
        <a:buChar char="–"/>
        <a:defRPr sz="13600">
          <a:solidFill>
            <a:schemeClr val="tx1"/>
          </a:solidFill>
          <a:latin typeface="+mn-lt"/>
          <a:ea typeface="ＭＳ Ｐゴシック" charset="0"/>
        </a:defRPr>
      </a:lvl2pPr>
      <a:lvl3pPr marL="5614988" indent="-1123950" algn="l" defTabSz="4491038" rtl="0" eaLnBrk="0" fontAlgn="base" hangingPunct="0">
        <a:spcBef>
          <a:spcPct val="20000"/>
        </a:spcBef>
        <a:spcAft>
          <a:spcPct val="0"/>
        </a:spcAft>
        <a:buChar char="•"/>
        <a:defRPr sz="11700">
          <a:solidFill>
            <a:schemeClr val="tx1"/>
          </a:solidFill>
          <a:latin typeface="+mn-lt"/>
          <a:ea typeface="ＭＳ Ｐゴシック" charset="0"/>
        </a:defRPr>
      </a:lvl3pPr>
      <a:lvl4pPr marL="7864475" indent="-1125538" algn="l" defTabSz="4491038" rtl="0" eaLnBrk="0" fontAlgn="base" hangingPunct="0">
        <a:spcBef>
          <a:spcPct val="20000"/>
        </a:spcBef>
        <a:spcAft>
          <a:spcPct val="0"/>
        </a:spcAft>
        <a:buChar char="–"/>
        <a:defRPr sz="9900">
          <a:solidFill>
            <a:schemeClr val="tx1"/>
          </a:solidFill>
          <a:latin typeface="+mn-lt"/>
          <a:ea typeface="ＭＳ Ｐゴシック" charset="0"/>
        </a:defRPr>
      </a:lvl4pPr>
      <a:lvl5pPr marL="10106025" indent="-1125538" algn="l" defTabSz="4491038" rtl="0" eaLnBrk="0" fontAlgn="base" hangingPunct="0">
        <a:spcBef>
          <a:spcPct val="20000"/>
        </a:spcBef>
        <a:spcAft>
          <a:spcPct val="0"/>
        </a:spcAft>
        <a:buChar char="»"/>
        <a:defRPr sz="9900">
          <a:solidFill>
            <a:schemeClr val="tx1"/>
          </a:solidFill>
          <a:latin typeface="+mn-lt"/>
          <a:ea typeface="ＭＳ Ｐゴシック" charset="0"/>
        </a:defRPr>
      </a:lvl5pPr>
      <a:lvl6pPr marL="10563942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6pPr>
      <a:lvl7pPr marL="11021174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7pPr>
      <a:lvl8pPr marL="11478404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8pPr>
      <a:lvl9pPr marL="11935635" indent="-1125614" algn="l" defTabSz="4491343" rtl="0" fontAlgn="base">
        <a:spcBef>
          <a:spcPct val="20000"/>
        </a:spcBef>
        <a:spcAft>
          <a:spcPct val="0"/>
        </a:spcAft>
        <a:buChar char="»"/>
        <a:defRPr sz="990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0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62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93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25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55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86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18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48" algn="l" defTabSz="9144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81"/>
          <p:cNvSpPr txBox="1">
            <a:spLocks noChangeArrowheads="1"/>
          </p:cNvSpPr>
          <p:nvPr/>
        </p:nvSpPr>
        <p:spPr bwMode="auto">
          <a:xfrm>
            <a:off x="0" y="41784588"/>
            <a:ext cx="30279975" cy="1125537"/>
          </a:xfrm>
          <a:prstGeom prst="rect">
            <a:avLst/>
          </a:prstGeom>
          <a:solidFill>
            <a:srgbClr val="652D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15988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zh-CN" sz="5400">
              <a:solidFill>
                <a:srgbClr val="D11242"/>
              </a:solidFill>
              <a:latin typeface="Helvetica" panose="020B0604020202020204" pitchFamily="34" charset="0"/>
            </a:endParaRPr>
          </a:p>
        </p:txBody>
      </p:sp>
      <p:sp>
        <p:nvSpPr>
          <p:cNvPr id="14339" name="Rectangle 9"/>
          <p:cNvSpPr>
            <a:spLocks noChangeArrowheads="1"/>
          </p:cNvSpPr>
          <p:nvPr/>
        </p:nvSpPr>
        <p:spPr bwMode="auto">
          <a:xfrm>
            <a:off x="771525" y="41817925"/>
            <a:ext cx="218074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5400" dirty="0">
                <a:solidFill>
                  <a:schemeClr val="bg1"/>
                </a:solidFill>
                <a:latin typeface="Helvetica" panose="020B0604020202020204" pitchFamily="34" charset="0"/>
              </a:rPr>
              <a:t>ACM Class</a:t>
            </a:r>
            <a:endParaRPr lang="en-GB" altLang="zh-CN" sz="5400" dirty="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14340" name="Rectangle 5"/>
          <p:cNvSpPr>
            <a:spLocks noChangeArrowheads="1"/>
          </p:cNvSpPr>
          <p:nvPr/>
        </p:nvSpPr>
        <p:spPr bwMode="auto">
          <a:xfrm>
            <a:off x="22579014" y="41800463"/>
            <a:ext cx="717391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5400" dirty="0">
                <a:solidFill>
                  <a:schemeClr val="bg1"/>
                </a:solidFill>
                <a:latin typeface="Helvetica" panose="020B0604020202020204" pitchFamily="34" charset="0"/>
              </a:rPr>
              <a:t>https://</a:t>
            </a:r>
            <a:r>
              <a:rPr lang="en-GB" altLang="zh-CN" sz="5400" dirty="0">
                <a:solidFill>
                  <a:schemeClr val="bg1"/>
                </a:solidFill>
                <a:latin typeface="Helvetica" panose="020B0604020202020204" pitchFamily="34" charset="0"/>
              </a:rPr>
              <a:t>acm.sjtu.edu.cn</a:t>
            </a:r>
          </a:p>
        </p:txBody>
      </p:sp>
      <p:grpSp>
        <p:nvGrpSpPr>
          <p:cNvPr id="14341" name="Group 2"/>
          <p:cNvGrpSpPr>
            <a:grpSpLocks/>
          </p:cNvGrpSpPr>
          <p:nvPr/>
        </p:nvGrpSpPr>
        <p:grpSpPr bwMode="auto">
          <a:xfrm>
            <a:off x="676275" y="4841875"/>
            <a:ext cx="13860463" cy="1258888"/>
            <a:chOff x="676274" y="11468100"/>
            <a:chExt cx="13860464" cy="1258493"/>
          </a:xfrm>
        </p:grpSpPr>
        <p:sp>
          <p:nvSpPr>
            <p:cNvPr id="3199" name="Rectangle 249"/>
            <p:cNvSpPr>
              <a:spLocks noChangeArrowheads="1"/>
            </p:cNvSpPr>
            <p:nvPr/>
          </p:nvSpPr>
          <p:spPr bwMode="auto">
            <a:xfrm>
              <a:off x="676274" y="11618866"/>
              <a:ext cx="10636251" cy="1107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defRPr/>
              </a:pPr>
              <a:r>
                <a:rPr lang="en-US" altLang="zh-CN" sz="6601" b="1" dirty="0">
                  <a:solidFill>
                    <a:srgbClr val="652D89"/>
                  </a:solidFill>
                  <a:latin typeface="Helvetica" charset="0"/>
                  <a:ea typeface="Helvetica" charset="0"/>
                  <a:cs typeface="Helvetica" charset="0"/>
                </a:rPr>
                <a:t>Background</a:t>
              </a:r>
            </a:p>
          </p:txBody>
        </p:sp>
        <p:cxnSp>
          <p:nvCxnSpPr>
            <p:cNvPr id="14432" name="Straight Connector 6"/>
            <p:cNvCxnSpPr>
              <a:cxnSpLocks noChangeShapeType="1"/>
            </p:cNvCxnSpPr>
            <p:nvPr/>
          </p:nvCxnSpPr>
          <p:spPr bwMode="auto">
            <a:xfrm>
              <a:off x="777875" y="11468100"/>
              <a:ext cx="13758863" cy="0"/>
            </a:xfrm>
            <a:prstGeom prst="line">
              <a:avLst/>
            </a:prstGeom>
            <a:noFill/>
            <a:ln w="12700">
              <a:solidFill>
                <a:srgbClr val="652D8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342" name="Group 5"/>
          <p:cNvGrpSpPr>
            <a:grpSpLocks/>
          </p:cNvGrpSpPr>
          <p:nvPr/>
        </p:nvGrpSpPr>
        <p:grpSpPr bwMode="auto">
          <a:xfrm>
            <a:off x="15289213" y="4822105"/>
            <a:ext cx="13912850" cy="1258893"/>
            <a:chOff x="15289213" y="5485680"/>
            <a:chExt cx="13912850" cy="1258945"/>
          </a:xfrm>
        </p:grpSpPr>
        <p:sp>
          <p:nvSpPr>
            <p:cNvPr id="3197" name="Rectangle 249"/>
            <p:cNvSpPr>
              <a:spLocks noChangeArrowheads="1"/>
            </p:cNvSpPr>
            <p:nvPr/>
          </p:nvSpPr>
          <p:spPr bwMode="auto">
            <a:xfrm>
              <a:off x="15289213" y="5636505"/>
              <a:ext cx="6688137" cy="1108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GB" altLang="zh-CN" sz="6600" b="1">
                  <a:solidFill>
                    <a:srgbClr val="652D89"/>
                  </a:solidFill>
                  <a:latin typeface="Helvetica" panose="020B0604020202020204" pitchFamily="34" charset="0"/>
                </a:rPr>
                <a:t>Our Approach</a:t>
              </a:r>
              <a:endParaRPr lang="en-US" altLang="zh-CN" sz="6600" b="1" dirty="0">
                <a:solidFill>
                  <a:srgbClr val="652D89"/>
                </a:solidFill>
                <a:latin typeface="Helvetica" panose="020B0604020202020204" pitchFamily="34" charset="0"/>
              </a:endParaRPr>
            </a:p>
          </p:txBody>
        </p:sp>
        <p:cxnSp>
          <p:nvCxnSpPr>
            <p:cNvPr id="14430" name="Straight Connector 6"/>
            <p:cNvCxnSpPr>
              <a:cxnSpLocks noChangeShapeType="1"/>
            </p:cNvCxnSpPr>
            <p:nvPr/>
          </p:nvCxnSpPr>
          <p:spPr bwMode="auto">
            <a:xfrm>
              <a:off x="15428913" y="5485680"/>
              <a:ext cx="13773150" cy="14288"/>
            </a:xfrm>
            <a:prstGeom prst="line">
              <a:avLst/>
            </a:prstGeom>
            <a:noFill/>
            <a:ln w="12700">
              <a:solidFill>
                <a:srgbClr val="652D8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343" name="TextBox 3"/>
          <p:cNvSpPr txBox="1">
            <a:spLocks noChangeArrowheads="1"/>
          </p:cNvSpPr>
          <p:nvPr/>
        </p:nvSpPr>
        <p:spPr bwMode="auto">
          <a:xfrm>
            <a:off x="-36563300" y="13154025"/>
            <a:ext cx="184150" cy="44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zh-CN">
              <a:latin typeface="Helvetica" panose="020B0604020202020204" pitchFamily="34" charset="0"/>
            </a:endParaRPr>
          </a:p>
        </p:txBody>
      </p:sp>
      <p:sp>
        <p:nvSpPr>
          <p:cNvPr id="3083" name="Rectangle 6"/>
          <p:cNvSpPr>
            <a:spLocks noChangeArrowheads="1"/>
          </p:cNvSpPr>
          <p:nvPr/>
        </p:nvSpPr>
        <p:spPr bwMode="auto">
          <a:xfrm>
            <a:off x="0" y="0"/>
            <a:ext cx="30279975" cy="4098925"/>
          </a:xfrm>
          <a:prstGeom prst="rect">
            <a:avLst/>
          </a:prstGeom>
          <a:solidFill>
            <a:srgbClr val="652D8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/>
            <a:endParaRPr lang="en-US" altLang="zh-CN" sz="66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3084" name="TextBox 26"/>
          <p:cNvSpPr txBox="1">
            <a:spLocks noChangeArrowheads="1"/>
          </p:cNvSpPr>
          <p:nvPr/>
        </p:nvSpPr>
        <p:spPr bwMode="auto">
          <a:xfrm>
            <a:off x="676275" y="214313"/>
            <a:ext cx="29248100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ts val="7800"/>
              </a:lnSpc>
              <a:defRPr/>
            </a:pPr>
            <a:r>
              <a:rPr lang="en-US" altLang="zh-CN" sz="6600" b="1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Bridging the Gap Between Numerical and Categorical Objectives in Time-Series Foundation Models: Loss- and Head-Level Adaptation</a:t>
            </a:r>
            <a:endParaRPr lang="en-GB" altLang="zh-CN" sz="6600" b="1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4346" name="Rectangle 6"/>
          <p:cNvSpPr>
            <a:spLocks noChangeArrowheads="1"/>
          </p:cNvSpPr>
          <p:nvPr/>
        </p:nvSpPr>
        <p:spPr bwMode="auto">
          <a:xfrm>
            <a:off x="738188" y="2454275"/>
            <a:ext cx="20727001" cy="1331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ts val="5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Helvetica" panose="020B0604020202020204" pitchFamily="34" charset="0"/>
              </a:rPr>
              <a:t>Yewei Huang (istina@sjtu.edu.cn)</a:t>
            </a:r>
          </a:p>
          <a:p>
            <a:pPr eaLnBrk="1" hangingPunct="1">
              <a:lnSpc>
                <a:spcPts val="5000"/>
              </a:lnSpc>
            </a:pPr>
            <a:r>
              <a:rPr lang="en-US" altLang="zh-CN" sz="4000" b="1" dirty="0">
                <a:solidFill>
                  <a:schemeClr val="bg1"/>
                </a:solidFill>
                <a:latin typeface="Helvetica" panose="020B0604020202020204" pitchFamily="34" charset="0"/>
              </a:rPr>
              <a:t>Shanghai Jiao Tong University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5854" y="2388932"/>
            <a:ext cx="5353514" cy="1401166"/>
          </a:xfrm>
          <a:prstGeom prst="rect">
            <a:avLst/>
          </a:prstGeom>
        </p:spPr>
      </p:pic>
      <p:sp>
        <p:nvSpPr>
          <p:cNvPr id="14348" name="TextBox 2"/>
          <p:cNvSpPr txBox="1">
            <a:spLocks noChangeArrowheads="1"/>
          </p:cNvSpPr>
          <p:nvPr/>
        </p:nvSpPr>
        <p:spPr bwMode="auto">
          <a:xfrm>
            <a:off x="777875" y="6205538"/>
            <a:ext cx="61048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000" b="1" dirty="0">
                <a:latin typeface="Helvetica" panose="020B0604020202020204" pitchFamily="34" charset="0"/>
              </a:rPr>
              <a:t>Time Series Forecasting</a:t>
            </a:r>
          </a:p>
        </p:txBody>
      </p:sp>
      <p:sp>
        <p:nvSpPr>
          <p:cNvPr id="14351" name="TextBox 46"/>
          <p:cNvSpPr txBox="1">
            <a:spLocks noChangeArrowheads="1"/>
          </p:cNvSpPr>
          <p:nvPr/>
        </p:nvSpPr>
        <p:spPr bwMode="auto">
          <a:xfrm>
            <a:off x="738188" y="12653554"/>
            <a:ext cx="1122967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000" b="1" dirty="0">
                <a:latin typeface="Helvetica" panose="020B0604020202020204" pitchFamily="34" charset="0"/>
              </a:rPr>
              <a:t>LLM-based Forecasting: Chronos &amp; </a:t>
            </a:r>
            <a:r>
              <a:rPr lang="en-US" altLang="zh-CN" sz="4000" b="1" dirty="0" err="1">
                <a:latin typeface="Helvetica" panose="020B0604020202020204" pitchFamily="34" charset="0"/>
              </a:rPr>
              <a:t>TimesFM</a:t>
            </a:r>
            <a:endParaRPr lang="en-US" altLang="zh-CN" sz="4000" b="1" dirty="0">
              <a:latin typeface="Helvetica" panose="020B0604020202020204" pitchFamily="34" charset="0"/>
            </a:endParaRPr>
          </a:p>
        </p:txBody>
      </p:sp>
      <p:sp>
        <p:nvSpPr>
          <p:cNvPr id="14356" name="Rectangle 12"/>
          <p:cNvSpPr>
            <a:spLocks noChangeArrowheads="1"/>
          </p:cNvSpPr>
          <p:nvPr/>
        </p:nvSpPr>
        <p:spPr bwMode="auto">
          <a:xfrm>
            <a:off x="724129" y="17925898"/>
            <a:ext cx="5911875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6600" b="1" dirty="0">
                <a:solidFill>
                  <a:srgbClr val="652D89"/>
                </a:solidFill>
                <a:latin typeface="Helvetica" panose="020B0604020202020204" pitchFamily="34" charset="0"/>
              </a:rPr>
              <a:t>Terminologies</a:t>
            </a:r>
            <a:endParaRPr lang="en-US" altLang="zh-CN" sz="6600" b="1" dirty="0">
              <a:latin typeface="Helvetica" panose="020B0604020202020204" pitchFamily="34" charset="0"/>
            </a:endParaRPr>
          </a:p>
        </p:txBody>
      </p:sp>
      <p:sp>
        <p:nvSpPr>
          <p:cNvPr id="14359" name="Rectangle 61"/>
          <p:cNvSpPr>
            <a:spLocks noChangeArrowheads="1"/>
          </p:cNvSpPr>
          <p:nvPr/>
        </p:nvSpPr>
        <p:spPr bwMode="auto">
          <a:xfrm>
            <a:off x="676275" y="26702005"/>
            <a:ext cx="470535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6600" b="1" dirty="0">
                <a:solidFill>
                  <a:srgbClr val="652D89"/>
                </a:solidFill>
                <a:latin typeface="Helvetica" panose="020B0604020202020204" pitchFamily="34" charset="0"/>
              </a:rPr>
              <a:t>Challenges</a:t>
            </a:r>
          </a:p>
        </p:txBody>
      </p:sp>
      <p:sp>
        <p:nvSpPr>
          <p:cNvPr id="14360" name="TextBox 62"/>
          <p:cNvSpPr txBox="1">
            <a:spLocks noChangeArrowheads="1"/>
          </p:cNvSpPr>
          <p:nvPr/>
        </p:nvSpPr>
        <p:spPr bwMode="auto">
          <a:xfrm>
            <a:off x="930070" y="27978355"/>
            <a:ext cx="14187488" cy="2601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5000"/>
              </a:lnSpc>
            </a:pPr>
            <a:r>
              <a:rPr lang="en-US" altLang="zh-CN" sz="3600" b="1" dirty="0">
                <a:latin typeface="Helvetica" panose="020B0604020202020204" pitchFamily="34" charset="0"/>
              </a:rPr>
              <a:t>Classification ignores distance: </a:t>
            </a:r>
            <a:r>
              <a:rPr lang="en-US" altLang="zh-CN" sz="3600" dirty="0">
                <a:latin typeface="Helvetica" panose="020B0604020202020204" pitchFamily="34" charset="0"/>
              </a:rPr>
              <a:t>in plain CE, nearby and far-away wrong bins are both wrong classes. </a:t>
            </a:r>
          </a:p>
          <a:p>
            <a:pPr>
              <a:lnSpc>
                <a:spcPts val="5000"/>
              </a:lnSpc>
            </a:pPr>
            <a:endParaRPr lang="en-US" altLang="zh-CN" sz="3600" dirty="0">
              <a:latin typeface="Helvetica" panose="020B0604020202020204" pitchFamily="34" charset="0"/>
            </a:endParaRPr>
          </a:p>
          <a:p>
            <a:pPr>
              <a:lnSpc>
                <a:spcPts val="5000"/>
              </a:lnSpc>
            </a:pPr>
            <a:endParaRPr lang="en-US" altLang="zh-CN" sz="3600" dirty="0">
              <a:latin typeface="Helvetica" panose="020B0604020202020204" pitchFamily="34" charset="0"/>
            </a:endParaRPr>
          </a:p>
        </p:txBody>
      </p:sp>
      <p:sp>
        <p:nvSpPr>
          <p:cNvPr id="14363" name="TextBox 93"/>
          <p:cNvSpPr txBox="1">
            <a:spLocks noChangeArrowheads="1"/>
          </p:cNvSpPr>
          <p:nvPr/>
        </p:nvSpPr>
        <p:spPr bwMode="auto">
          <a:xfrm>
            <a:off x="15300325" y="6272947"/>
            <a:ext cx="110005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000" b="1" dirty="0">
                <a:latin typeface="Helvetica" panose="020B0604020202020204" pitchFamily="34" charset="0"/>
              </a:rPr>
              <a:t>Route A: Loss-Level Adaptation for Chronos</a:t>
            </a:r>
          </a:p>
        </p:txBody>
      </p:sp>
      <p:sp>
        <p:nvSpPr>
          <p:cNvPr id="14364" name="TextBox 94"/>
          <p:cNvSpPr txBox="1">
            <a:spLocks noChangeArrowheads="1"/>
          </p:cNvSpPr>
          <p:nvPr/>
        </p:nvSpPr>
        <p:spPr bwMode="auto">
          <a:xfrm>
            <a:off x="15289213" y="8454313"/>
            <a:ext cx="1118498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000" b="1" dirty="0">
                <a:latin typeface="Helvetica" panose="020B0604020202020204" pitchFamily="34" charset="0"/>
              </a:rPr>
              <a:t>Route B: Head-Level Adaptation for </a:t>
            </a:r>
            <a:r>
              <a:rPr lang="en-US" altLang="zh-CN" sz="4000" b="1" dirty="0" err="1">
                <a:latin typeface="Helvetica" panose="020B0604020202020204" pitchFamily="34" charset="0"/>
              </a:rPr>
              <a:t>TimesFM</a:t>
            </a:r>
            <a:endParaRPr lang="en-US" altLang="zh-CN" sz="4000" b="1" dirty="0">
              <a:latin typeface="Helvetica" panose="020B0604020202020204" pitchFamily="34" charset="0"/>
            </a:endParaRPr>
          </a:p>
        </p:txBody>
      </p:sp>
      <p:sp>
        <p:nvSpPr>
          <p:cNvPr id="14369" name="Rectangle 125"/>
          <p:cNvSpPr>
            <a:spLocks noChangeArrowheads="1"/>
          </p:cNvSpPr>
          <p:nvPr/>
        </p:nvSpPr>
        <p:spPr bwMode="auto">
          <a:xfrm>
            <a:off x="15428913" y="21342844"/>
            <a:ext cx="526732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6600" b="1" dirty="0">
                <a:solidFill>
                  <a:srgbClr val="652D89"/>
                </a:solidFill>
                <a:latin typeface="Helvetica" panose="020B0604020202020204" pitchFamily="34" charset="0"/>
              </a:rPr>
              <a:t>Experiments</a:t>
            </a:r>
            <a:endParaRPr lang="en-US" altLang="zh-CN" sz="6600" b="1" dirty="0">
              <a:latin typeface="Helvetica" panose="020B0604020202020204" pitchFamily="34" charset="0"/>
            </a:endParaRPr>
          </a:p>
        </p:txBody>
      </p:sp>
      <p:sp>
        <p:nvSpPr>
          <p:cNvPr id="14370" name="TextBox 126"/>
          <p:cNvSpPr txBox="1">
            <a:spLocks noChangeArrowheads="1"/>
          </p:cNvSpPr>
          <p:nvPr/>
        </p:nvSpPr>
        <p:spPr bwMode="auto">
          <a:xfrm>
            <a:off x="15428913" y="22646074"/>
            <a:ext cx="16081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000" b="1" dirty="0">
                <a:latin typeface="Helvetica" panose="020B0604020202020204" pitchFamily="34" charset="0"/>
              </a:rPr>
              <a:t>Setup</a:t>
            </a:r>
          </a:p>
        </p:txBody>
      </p:sp>
      <p:sp>
        <p:nvSpPr>
          <p:cNvPr id="14371" name="TextBox 127"/>
          <p:cNvSpPr txBox="1">
            <a:spLocks noChangeArrowheads="1"/>
          </p:cNvSpPr>
          <p:nvPr/>
        </p:nvSpPr>
        <p:spPr bwMode="auto">
          <a:xfrm>
            <a:off x="15428913" y="29857885"/>
            <a:ext cx="20383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CN" sz="4000" b="1" dirty="0">
                <a:latin typeface="Helvetica" panose="020B0604020202020204" pitchFamily="34" charset="0"/>
              </a:rPr>
              <a:t>Results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5416213" y="23473288"/>
            <a:ext cx="14717635" cy="2601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  <a:defRPr/>
            </a:pPr>
            <a:r>
              <a:rPr lang="en-US" sz="3600" b="1" dirty="0">
                <a:latin typeface="Helvetica" charset="0"/>
                <a:ea typeface="Helvetica" charset="0"/>
                <a:cs typeface="Helvetica" charset="0"/>
              </a:rPr>
              <a:t>Dataset: </a:t>
            </a:r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Evaluate:</a:t>
            </a:r>
            <a:r>
              <a:rPr lang="zh-CN" altLang="en-US" sz="3600" dirty="0">
                <a:latin typeface="Helvetica" charset="0"/>
                <a:ea typeface="Helvetica" charset="0"/>
                <a:cs typeface="Helvetica" charset="0"/>
              </a:rPr>
              <a:t> </a:t>
            </a:r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Monash </a:t>
            </a:r>
            <a:r>
              <a:rPr lang="en-US" sz="3600" dirty="0" err="1">
                <a:latin typeface="Helvetica" charset="0"/>
                <a:ea typeface="Helvetica" charset="0"/>
                <a:cs typeface="Helvetica" charset="0"/>
              </a:rPr>
              <a:t>tourism_monthly</a:t>
            </a:r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, 24-step forecasting. Pretrain CE head: M-series datasets, weather, electricity, traffic, web traffic, rideshare, vehicle trips, KDD Cup 2018, COVID deaths, NN5, and FRED-MD.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7D4F012-6298-5070-7BF5-B5B70143E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227" y="7002456"/>
            <a:ext cx="12357637" cy="548282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5E88CE2-FA3E-2A24-ED2F-159842C9C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121" y="13893005"/>
            <a:ext cx="12567980" cy="431190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8F7A7C2-2920-884D-9AA5-A9F9E327814A}"/>
              </a:ext>
            </a:extLst>
          </p:cNvPr>
          <p:cNvSpPr txBox="1"/>
          <p:nvPr/>
        </p:nvSpPr>
        <p:spPr>
          <a:xfrm>
            <a:off x="1138710" y="13428557"/>
            <a:ext cx="44662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Helvetica" panose="020B0604020202020204" pitchFamily="34" charset="0"/>
                <a:cs typeface="Helvetica" panose="020B0604020202020204" pitchFamily="34" charset="0"/>
              </a:rPr>
              <a:t>Chronos,</a:t>
            </a:r>
            <a:r>
              <a:rPr lang="zh-CN" alt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3200" dirty="0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zh-CN" alt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CE</a:t>
            </a:r>
            <a:r>
              <a:rPr lang="en-US" altLang="zh-CN" sz="3200" dirty="0">
                <a:latin typeface="Helvetica" panose="020B0604020202020204" pitchFamily="34" charset="0"/>
                <a:cs typeface="Helvetica" panose="020B0604020202020204" pitchFamily="34" charset="0"/>
              </a:rPr>
              <a:t> error:</a:t>
            </a:r>
            <a:endParaRPr lang="zh-CN" altLang="en-US" sz="3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94CE07-1A98-585A-0630-3B9AA7A215F8}"/>
              </a:ext>
            </a:extLst>
          </p:cNvPr>
          <p:cNvSpPr txBox="1"/>
          <p:nvPr/>
        </p:nvSpPr>
        <p:spPr>
          <a:xfrm>
            <a:off x="1138710" y="15527125"/>
            <a:ext cx="492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Helvetica" panose="020B0604020202020204" pitchFamily="34" charset="0"/>
                <a:cs typeface="Helvetica" panose="020B0604020202020204" pitchFamily="34" charset="0"/>
              </a:rPr>
              <a:t>TimesFM</a:t>
            </a:r>
            <a:r>
              <a:rPr lang="en-US" altLang="zh-CN" sz="3200" dirty="0">
                <a:latin typeface="Helvetica" panose="020B0604020202020204" pitchFamily="34" charset="0"/>
                <a:cs typeface="Helvetica" panose="020B0604020202020204" pitchFamily="34" charset="0"/>
              </a:rPr>
              <a:t>,</a:t>
            </a:r>
            <a:r>
              <a:rPr lang="zh-CN" alt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3200" dirty="0">
                <a:latin typeface="Helvetica" panose="020B0604020202020204" pitchFamily="34" charset="0"/>
                <a:cs typeface="Helvetica" panose="020B0604020202020204" pitchFamily="34" charset="0"/>
              </a:rPr>
              <a:t>with</a:t>
            </a:r>
            <a:r>
              <a:rPr lang="zh-CN" altLang="en-US" sz="3200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altLang="zh-CN" sz="3200" b="1" dirty="0">
                <a:latin typeface="Helvetica" panose="020B0604020202020204" pitchFamily="34" charset="0"/>
                <a:cs typeface="Helvetica" panose="020B0604020202020204" pitchFamily="34" charset="0"/>
              </a:rPr>
              <a:t>MSE</a:t>
            </a:r>
            <a:r>
              <a:rPr lang="en-US" altLang="zh-CN" sz="3200" dirty="0">
                <a:latin typeface="Helvetica" panose="020B0604020202020204" pitchFamily="34" charset="0"/>
                <a:cs typeface="Helvetica" panose="020B0604020202020204" pitchFamily="34" charset="0"/>
              </a:rPr>
              <a:t> error:</a:t>
            </a:r>
            <a:endParaRPr lang="zh-CN" altLang="en-US" sz="3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2BED988-5A13-EDF2-544A-5B07A1F50937}"/>
              </a:ext>
            </a:extLst>
          </p:cNvPr>
          <p:cNvSpPr txBox="1"/>
          <p:nvPr/>
        </p:nvSpPr>
        <p:spPr>
          <a:xfrm>
            <a:off x="930070" y="19189296"/>
            <a:ext cx="1407815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Forecast Horizon:</a:t>
            </a:r>
          </a:p>
          <a:p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The future time steps the model needs to predict.</a:t>
            </a:r>
          </a:p>
          <a:p>
            <a:r>
              <a:rPr lang="en-US" altLang="zh-CN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Context Window:</a:t>
            </a:r>
          </a:p>
          <a:p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The past observations given to the model as input.</a:t>
            </a:r>
          </a:p>
          <a:p>
            <a:r>
              <a:rPr lang="en-US" altLang="zh-CN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Discretization / Bins:</a:t>
            </a:r>
          </a:p>
          <a:p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Continuous time-series values are mapped into discrete token bins. This is central to Chronos.</a:t>
            </a:r>
          </a:p>
          <a:p>
            <a:r>
              <a:rPr lang="en-US" altLang="zh-CN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Cross-Entropy Loss, CE:</a:t>
            </a:r>
          </a:p>
          <a:p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A classification loss over bins. It treats prediction as choosing the correct discrete class.</a:t>
            </a:r>
          </a:p>
          <a:p>
            <a:r>
              <a:rPr lang="en-US" altLang="zh-CN" sz="3600" b="1" dirty="0">
                <a:latin typeface="Helvetica" panose="020B0604020202020204" pitchFamily="34" charset="0"/>
                <a:cs typeface="Helvetica" panose="020B0604020202020204" pitchFamily="34" charset="0"/>
              </a:rPr>
              <a:t>Numerical Loss, MSE / MAE / Huber:</a:t>
            </a:r>
          </a:p>
          <a:p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Regression-style losses that penalize numerical distance between prediction and target.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BD1CAA2-B9AA-8B89-A751-329756F16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14" y="29622010"/>
            <a:ext cx="14318073" cy="490606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F3C31BB5-2595-A188-26B9-2C1400A0AA78}"/>
              </a:ext>
            </a:extLst>
          </p:cNvPr>
          <p:cNvSpPr txBox="1"/>
          <p:nvPr/>
        </p:nvSpPr>
        <p:spPr>
          <a:xfrm>
            <a:off x="992757" y="34793305"/>
            <a:ext cx="128153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Helvetica" panose="020B0604020202020204" pitchFamily="34" charset="0"/>
              </a:rPr>
              <a:t>Regression is conservative: </a:t>
            </a:r>
            <a:r>
              <a:rPr lang="en-US" altLang="zh-CN" sz="3600" dirty="0">
                <a:latin typeface="Helvetica" panose="020B0604020202020204" pitchFamily="34" charset="0"/>
              </a:rPr>
              <a:t>numerical losses favor average-looking forecasts.</a:t>
            </a:r>
          </a:p>
          <a:p>
            <a:endParaRPr lang="zh-CN" altLang="en-US" sz="36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CEB7D9B5-BDE5-F688-7ADC-ACFBD85186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782" y="36481923"/>
            <a:ext cx="11463937" cy="5092049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DF5B772F-D362-0257-0DE7-6817E42A089F}"/>
              </a:ext>
            </a:extLst>
          </p:cNvPr>
          <p:cNvSpPr txBox="1"/>
          <p:nvPr/>
        </p:nvSpPr>
        <p:spPr>
          <a:xfrm>
            <a:off x="15302244" y="6995607"/>
            <a:ext cx="143240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Keep the Chronos-T5 architecture, tokenizer, and backbone fixed, and apply </a:t>
            </a:r>
            <a:r>
              <a:rPr lang="en-US" altLang="zh-CN" sz="3600" dirty="0" err="1">
                <a:latin typeface="Helvetica" panose="020B0604020202020204" pitchFamily="34" charset="0"/>
                <a:cs typeface="Helvetica" panose="020B0604020202020204" pitchFamily="34" charset="0"/>
              </a:rPr>
              <a:t>LoRA</a:t>
            </a:r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 fine-tuning while changing only the training objective.</a:t>
            </a:r>
            <a:endParaRPr lang="zh-CN" alt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0762961D-5542-7154-7107-4DE5067117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937" y="11791695"/>
            <a:ext cx="11225349" cy="9512006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1E5E7DD4-C5CD-F0E5-1F27-952E7AAF3BF6}"/>
              </a:ext>
            </a:extLst>
          </p:cNvPr>
          <p:cNvSpPr txBox="1"/>
          <p:nvPr/>
        </p:nvSpPr>
        <p:spPr>
          <a:xfrm>
            <a:off x="15300325" y="9219960"/>
            <a:ext cx="139017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Route B adapts </a:t>
            </a:r>
            <a:r>
              <a:rPr lang="en-US" altLang="zh-CN" sz="3600" dirty="0" err="1">
                <a:latin typeface="Helvetica" panose="020B0604020202020204" pitchFamily="34" charset="0"/>
                <a:cs typeface="Helvetica" panose="020B0604020202020204" pitchFamily="34" charset="0"/>
              </a:rPr>
              <a:t>TimesFM</a:t>
            </a:r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 at the output-head level. We keep the </a:t>
            </a:r>
            <a:r>
              <a:rPr lang="en-US" altLang="zh-CN" sz="3600" dirty="0" err="1">
                <a:latin typeface="Helvetica" panose="020B0604020202020204" pitchFamily="34" charset="0"/>
                <a:cs typeface="Helvetica" panose="020B0604020202020204" pitchFamily="34" charset="0"/>
              </a:rPr>
              <a:t>TimesFM</a:t>
            </a:r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 backbone fixed and pretrain a new CE-style discretized prediction head, then apply downstream </a:t>
            </a:r>
            <a:r>
              <a:rPr lang="en-US" altLang="zh-CN" sz="3600" dirty="0" err="1">
                <a:latin typeface="Helvetica" panose="020B0604020202020204" pitchFamily="34" charset="0"/>
                <a:cs typeface="Helvetica" panose="020B0604020202020204" pitchFamily="34" charset="0"/>
              </a:rPr>
              <a:t>LoRA</a:t>
            </a:r>
            <a:r>
              <a:rPr lang="en-US" altLang="zh-CN" sz="3600" dirty="0">
                <a:latin typeface="Helvetica" panose="020B0604020202020204" pitchFamily="34" charset="0"/>
                <a:cs typeface="Helvetica" panose="020B0604020202020204" pitchFamily="34" charset="0"/>
              </a:rPr>
              <a:t> fine-tuning for the forecasting task.</a:t>
            </a:r>
            <a:endParaRPr lang="zh-CN" altLang="en-US" sz="36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0C8DB962-10D7-8F12-8C2D-B811F25B4F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99667" y="35854599"/>
            <a:ext cx="16834182" cy="5497971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7B98C8F2-0A98-E769-30C6-6F4A493E71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428915" y="31262408"/>
            <a:ext cx="14324011" cy="4484160"/>
          </a:xfrm>
          <a:prstGeom prst="rect">
            <a:avLst/>
          </a:prstGeom>
        </p:spPr>
      </p:pic>
      <p:sp>
        <p:nvSpPr>
          <p:cNvPr id="56" name="TextBox 128">
            <a:extLst>
              <a:ext uri="{FF2B5EF4-FFF2-40B4-BE49-F238E27FC236}">
                <a16:creationId xmlns:a16="http://schemas.microsoft.com/office/drawing/2014/main" id="{B691F8C7-7D08-25F7-EAAF-560031C6CE57}"/>
              </a:ext>
            </a:extLst>
          </p:cNvPr>
          <p:cNvSpPr txBox="1"/>
          <p:nvPr/>
        </p:nvSpPr>
        <p:spPr>
          <a:xfrm>
            <a:off x="15428913" y="26194408"/>
            <a:ext cx="14070675" cy="1319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  <a:defRPr/>
            </a:pPr>
            <a:r>
              <a:rPr lang="en-US" sz="3600" b="1" dirty="0">
                <a:latin typeface="Helvetica" charset="0"/>
                <a:ea typeface="Helvetica" charset="0"/>
                <a:cs typeface="Helvetica" charset="0"/>
              </a:rPr>
              <a:t>Metrics: </a:t>
            </a:r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We report WQL (weighted quantile loss) and MASE (mean absolute scaled error); lower is better.</a:t>
            </a:r>
          </a:p>
        </p:txBody>
      </p:sp>
      <p:sp>
        <p:nvSpPr>
          <p:cNvPr id="57" name="TextBox 128">
            <a:extLst>
              <a:ext uri="{FF2B5EF4-FFF2-40B4-BE49-F238E27FC236}">
                <a16:creationId xmlns:a16="http://schemas.microsoft.com/office/drawing/2014/main" id="{19CE3C54-B2CF-C199-D065-ECD7874C54E1}"/>
              </a:ext>
            </a:extLst>
          </p:cNvPr>
          <p:cNvSpPr txBox="1"/>
          <p:nvPr/>
        </p:nvSpPr>
        <p:spPr>
          <a:xfrm>
            <a:off x="15428913" y="27570299"/>
            <a:ext cx="14070675" cy="1960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  <a:defRPr/>
            </a:pPr>
            <a:r>
              <a:rPr lang="en-US" sz="3600" b="1" dirty="0">
                <a:latin typeface="Helvetica" charset="0"/>
                <a:ea typeface="Helvetica" charset="0"/>
                <a:cs typeface="Helvetica" charset="0"/>
              </a:rPr>
              <a:t>Baselines: </a:t>
            </a:r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For route A, the baseline is </a:t>
            </a:r>
            <a:r>
              <a:rPr lang="it-IT" sz="3600" dirty="0">
                <a:latin typeface="Helvetica" charset="0"/>
                <a:ea typeface="Helvetica" charset="0"/>
                <a:cs typeface="Helvetica" charset="0"/>
              </a:rPr>
              <a:t>standard CE + LoRA fine-tuning setup; For route B, the baseline is </a:t>
            </a:r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the original zero-shot model and the original regression-head </a:t>
            </a:r>
            <a:r>
              <a:rPr lang="en-US" sz="3600" dirty="0" err="1">
                <a:latin typeface="Helvetica" charset="0"/>
                <a:ea typeface="Helvetica" charset="0"/>
                <a:cs typeface="Helvetica" charset="0"/>
              </a:rPr>
              <a:t>LoRA</a:t>
            </a:r>
            <a:r>
              <a:rPr lang="en-US" sz="3600" dirty="0">
                <a:latin typeface="Helvetica" charset="0"/>
                <a:ea typeface="Helvetica" charset="0"/>
                <a:cs typeface="Helvetica" charset="0"/>
              </a:rPr>
              <a:t> setting.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80A91D7-9F79-9E2A-9552-29CE15AD3FFC}"/>
              </a:ext>
            </a:extLst>
          </p:cNvPr>
          <p:cNvSpPr txBox="1"/>
          <p:nvPr/>
        </p:nvSpPr>
        <p:spPr>
          <a:xfrm>
            <a:off x="15416213" y="30610617"/>
            <a:ext cx="14497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Helvetica" panose="020B0604020202020204" pitchFamily="34" charset="0"/>
                <a:cs typeface="Helvetica" panose="020B0604020202020204" pitchFamily="34" charset="0"/>
              </a:rPr>
              <a:t>Left to right: Zero-shot, CE, bin-MSE, bin-MSE+CE, bin-W1, bin-W2, bin-CRPS, bin-</a:t>
            </a:r>
            <a:r>
              <a:rPr lang="en-US" altLang="zh-CN" sz="2400" dirty="0" err="1">
                <a:latin typeface="Helvetica" panose="020B0604020202020204" pitchFamily="34" charset="0"/>
                <a:cs typeface="Helvetica" panose="020B0604020202020204" pitchFamily="34" charset="0"/>
              </a:rPr>
              <a:t>OrdinalCE</a:t>
            </a:r>
            <a:r>
              <a:rPr lang="en-US" altLang="zh-CN" sz="2400" dirty="0">
                <a:latin typeface="Helvetica" panose="020B0604020202020204" pitchFamily="34" charset="0"/>
                <a:cs typeface="Helvetica" panose="020B0604020202020204" pitchFamily="34" charset="0"/>
              </a:rPr>
              <a:t>, bin-Huber</a:t>
            </a:r>
            <a:endParaRPr lang="zh-CN" altLang="en-US" sz="24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D11242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004C67"/>
        </a:solidFill>
        <a:ln w="76200" cap="sq">
          <a:solidFill>
            <a:srgbClr val="969696"/>
          </a:solidFill>
          <a:round/>
          <a:headEnd/>
          <a:tailEnd/>
        </a:ln>
      </a:spPr>
      <a:bodyPr anchor="ctr"/>
      <a:lstStyle>
        <a:defPPr>
          <a:defRPr sz="6600" b="1" dirty="0">
            <a:solidFill>
              <a:schemeClr val="bg1"/>
            </a:solidFill>
            <a:ea typeface="Verdana" pitchFamily="34" charset="0"/>
            <a:cs typeface="Arial" charset="0"/>
          </a:defRPr>
        </a:defPPr>
      </a:lstStyle>
    </a:spDef>
    <a:lnDef>
      <a:spPr bwMode="auto">
        <a:solidFill>
          <a:schemeClr val="accent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25456</TotalTime>
  <Words>382</Words>
  <Application>Microsoft Office PowerPoint</Application>
  <PresentationFormat>自定义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ＭＳ Ｐゴシック</vt:lpstr>
      <vt:lpstr>Arial</vt:lpstr>
      <vt:lpstr>Calibri</vt:lpstr>
      <vt:lpstr>Helvetica</vt:lpstr>
      <vt:lpstr>Times New Roman</vt:lpstr>
      <vt:lpstr>Default Design</vt:lpstr>
      <vt:lpstr>PowerPoint 演示文稿</vt:lpstr>
    </vt:vector>
  </TitlesOfParts>
  <Company>University of Cambridge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Anne Koerber</dc:creator>
  <cp:lastModifiedBy>烨威 黄</cp:lastModifiedBy>
  <cp:revision>722</cp:revision>
  <cp:lastPrinted>2016-07-04T05:07:13Z</cp:lastPrinted>
  <dcterms:created xsi:type="dcterms:W3CDTF">2000-02-09T12:19:10Z</dcterms:created>
  <dcterms:modified xsi:type="dcterms:W3CDTF">2026-06-07T12:42:29Z</dcterms:modified>
</cp:coreProperties>
</file>